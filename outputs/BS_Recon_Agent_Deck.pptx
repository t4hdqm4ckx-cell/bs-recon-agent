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359152"/>
            <a:ext cx="87325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256032"/>
            <a:ext cx="16916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25603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· BD5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0080"/>
            <a:ext cx="7955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Sheet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 Agent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Month-End Close Automation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Three-agent system for balance sheet reconciliations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0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Streaming Co.  ·  November 2026 Close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526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LuminaUS   ·   LuminaEMEA   ·   LuminaAPAC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for AI-Driven Reconciliation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996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BS reconciliations are manual, error-prone, and consume 40–60% of Controller bandwidth each close cycle.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1579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 Reconciliation Agent automates the analytical work: tying GL balances to support, identifying exceptions, aging items, and assembling the rec package.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8163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retain full approval authority. No journal entry posts, no item clears, and no package is released without explicit human sign-off.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52958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4747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Claude, the system covers 9 account categories across 3 entities and delivers a signed-off rec package by Business Day 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777240"/>
            <a:ext cx="117043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88696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14904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90688" y="777240"/>
            <a:ext cx="1170432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0688" y="88696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790688" y="14904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92240" y="2240280"/>
            <a:ext cx="1170432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35000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92240" y="295351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90688" y="2240280"/>
            <a:ext cx="117043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90688" y="2350008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790688" y="295351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Streaming Co.  ·  Three entities  ·  US GAAP  ·  FYE December  ·  November 2026 Close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Three-Agent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08760" y="12984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578608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3619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BD1–BD3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GL to support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rec items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journal entries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35808" y="2377440"/>
            <a:ext cx="237744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2984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73552" y="1444752"/>
            <a:ext cx="2578608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153619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3552" y="21031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BD3–BD4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42316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&amp; ages open items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by materiality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exceptions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2377440"/>
            <a:ext cx="237744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41464" y="12984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1464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9904" y="1444752"/>
            <a:ext cx="25786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9904" y="153619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 Package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89904" y="21031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242316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workpapers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sign-off matrix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3904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config/thresholds.yaml   ·   data/ (GL, sub-ledgers, statements)   ·   skills/ (rec templates)   ·   Audit Trail (append-only)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GL Export  ·  Sub-ledger Feeds  ·  Bank Statements  ·  Lender Confirms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4526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Workpapers  ·  Rec Package  ·  CFO Sign-off 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CALENDAR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BD1–BD5  ·  November 2026 Close Timeline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499616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081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1389888"/>
            <a:ext cx="1499616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4081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29968" y="16916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02736" y="1389888"/>
            <a:ext cx="1499616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4081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2736" y="16916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75504" y="1389888"/>
            <a:ext cx="1499616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14081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5504" y="16916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48272" y="1389888"/>
            <a:ext cx="1499616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4081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48272" y="16916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4645152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08483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Account Reconciliation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02736" y="2523744"/>
            <a:ext cx="307238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252374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Exception Management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48272" y="2962656"/>
            <a:ext cx="1499616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2962656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Rec Package Assembly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7790688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401568"/>
            <a:ext cx="7699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Review &amp; Approvals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48272" y="3840480"/>
            <a:ext cx="1499616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384048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Sign-off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608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BD1 GL close &amp; data load   ·   BD3 all recs submitted   ·   BD4 exceptions resolved   ·   BD5 rec package released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COVERAGE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Account Categories  ·  All Three Entities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Account 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GL Account(s)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Reconciliation 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Cash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100100 Operating  ·  100200 Money Market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Bank statement tie-out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Accounts Receivable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120100 Trade AR  ·  120200 Advertising 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AR subledger aging tie-out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Prepaids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130100–130400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Amortization schedule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Fixed Assets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150100 PP&amp;E  ·  150200 Intangibles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Fixed asset register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Accounts Payable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200100 AP Trade  ·  200200 AP Accrued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AP subledger tie-out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Accrued Liabilities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210100–210500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Accrual schedule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Deferred 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220100–220200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Subscriber billing schedule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Intercompany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230100–230200 (US)  ·  240100–240200 (EMEA/APAC)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IC matrix matching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Long-Term Debt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300100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Lender statement / amortization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reconciled for LuminaUS  ·  LuminaEMEA  ·  LuminaAPAC   |   Output: YYYY-MM_&lt;Entity&gt;_&lt;Account&gt;_Rec_v&lt;n&gt;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Process  ·  Account Reconciliation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8249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0704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18288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export + sub-ledger feeds loaded. Record counts, checksums, period consistency, and entity coverage validated. Abort on any failure.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41732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41732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168249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31536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Tie-Out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31536" y="18288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ties each account's GL balance to its supporting schedule or third-party confirmation (bank stmt, AR aging, FA register, IC matrix).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32888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32888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9806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0704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Item Identification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29443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Variances logged as reconciling items with amount, description, and source. Each item enters the Exception Management queue immediately.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532888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2532888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279806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31536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Proposal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31536" y="29443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proposed JEs for reconciled items. All JEs remain in pending state — no posting without explicit Controller sign-off.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648456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648456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9136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0704" y="3721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 Assembly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60704" y="40599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stamp auto-applied. Workpaper classified as Draft until a human Reviewer name and sign-off date are entered.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3648456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3648456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39136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31536" y="3721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Rec Package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31536" y="40599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accounts forwarded to the Rec Package agent for inclusion in the monthly close package, targeting BD5.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 Buckets  ·  Escalation Framework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938528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356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9736" y="1389888"/>
            <a:ext cx="19385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736" y="14356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59736" y="17556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62272" y="1389888"/>
            <a:ext cx="1938528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4356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2272" y="17556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64808" y="1389888"/>
            <a:ext cx="230428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43560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17556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40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Triggers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07208"/>
            <a:ext cx="8211312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07208"/>
            <a:ext cx="64008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$100K  or  &gt; 30 days old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2880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Flag as material → Controller review required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64408"/>
            <a:ext cx="8211312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64408"/>
            <a:ext cx="6400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$250K (any age)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3337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Auto-investigate → Agent pauses, notifies Controller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21608"/>
            <a:ext cx="8211312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21608"/>
            <a:ext cx="64008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 days old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3794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Critical aging → Escalate immediately to CFO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78808"/>
            <a:ext cx="8211312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78808"/>
            <a:ext cx="64008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$450K aggregate trivial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920" y="42519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Aggregate threshold breach → Controller alert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items must be cleared within 90 days or escalated to the CFO.  The agent never closes items autonomously.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 ·  Agent Proposes, Human Approves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361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draft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920240"/>
            <a:ext cx="6858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463040"/>
            <a:ext cx="19202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5361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1920240"/>
            <a:ext cx="6858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63040"/>
            <a:ext cx="1920240" cy="9601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5361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CFO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920240"/>
            <a:ext cx="6858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463040"/>
            <a:ext cx="192024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5361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executed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633472"/>
            <a:ext cx="1920240" cy="621792"/>
          </a:xfrm>
          <a:prstGeom prst="rect">
            <a:avLst/>
          </a:prstGeom>
          <a:solidFill>
            <a:srgbClr val="7F1D1D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Re-queued with notes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493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Governance Rules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128016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87705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JE is posted without Controller sign-off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33088"/>
            <a:ext cx="128016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09651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reconciling item clears without human confirmation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52544"/>
            <a:ext cx="128016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1596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package requires Controller + CFO sign-off matrix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128016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53542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never distributes outputs externally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91456"/>
            <a:ext cx="128016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75488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failed revisions → automatic CFO escalation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&amp; RISK THRESHOLDS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 in config/thresholds.yaml  ·  CFO Override Required to Change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Exception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&gt; 30 days old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5234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· Controller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606040" cy="1874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3552" y="15087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73552" y="2194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Auto-Investigate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73552" y="24963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275234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pauses · Auto-escalate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417320"/>
            <a:ext cx="2606040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9904" y="15087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$450K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89904" y="2194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Threshold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9904" y="24963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9904" y="275234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breach alert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198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 Classification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03904"/>
          <a:ext cx="8229600" cy="1024128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3891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Required 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Current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0–30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Monitor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31–60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Controller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 Risk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61–90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Escalate to CFO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90+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CFO + External Auditor notification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SOX COMPLIANCE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Append-Only  ·  SHA-256 Verified  ·  7-Year Retention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SOX Control Alignment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00784"/>
          <a:ext cx="8229600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SOX 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Satisfied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Evidence of review &amp; approval (ITGC)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Every JE and rec item records approver, role, and timestamp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Segregation of duties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Agent (preparer) and human (reviewer/approver) are always distinct actors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Change management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config changes (threshold overrides) logged with approver identity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Access controls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login events and role assignments logged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integrity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Append-only log · Per-record SHA-256 checksums · Verified each close cycle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Retention (SOX §802)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7-year retention for all financial records · Purges logged as audit events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67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audit record contains: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133088"/>
            <a:ext cx="2029968" cy="246888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4133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(UUID)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4133088"/>
            <a:ext cx="2029968" cy="246888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0904" y="4133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+ actor_type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4133088"/>
            <a:ext cx="2029968" cy="246888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9744" y="4133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425696"/>
            <a:ext cx="2029968" cy="246888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4425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close_period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606040" y="4425696"/>
            <a:ext cx="2029968" cy="246888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60904" y="4425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timestamp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4425696"/>
            <a:ext cx="2029968" cy="246888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9744" y="4425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checksum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745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Workpapers &amp; Recs 7 yrs  ·  Run Logs 7 yrs  ·  Approvals 7 yrs  ·  Login Events 3 yrs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&amp; VALUE DELIVERED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Controllers, CFOs &amp; Audit Teams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57400" y="1472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rec package delivered by Business Day 5. All 9 account categories across 3 entities in a single run.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17320"/>
            <a:ext cx="26974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72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reconciling item logged and aged. No items suppressed or omitted regardless of size.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17320"/>
            <a:ext cx="26974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1472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19659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JE, item clearance, and package release requires explicit human approval — no autonomous actions.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44952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44952"/>
            <a:ext cx="26974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SOX Ready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57400" y="30998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§802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35935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is append-only, SHA-256 verified, and retained 7 years — audit-ready from day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044952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044952"/>
            <a:ext cx="269748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0998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29000" y="35935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reconciliation across LuminaUS, LuminaEMEA, and LuminaAPAC — expandable to any entity count.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044952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044952"/>
            <a:ext cx="26974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18120" y="30998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–60%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09360" y="35935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reduction in Controller time spent on manual data gathering and workpaper preparation each close cycle.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  ·  3 Phases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2606040" cy="3090672"/>
          </a:xfrm>
          <a:prstGeom prst="rect">
            <a:avLst/>
          </a:prstGeom>
          <a:solidFill>
            <a:srgbClr val="1A2F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44752"/>
            <a:ext cx="26060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2267712"/>
            <a:ext cx="155448" cy="1554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21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Account Reconciliation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2779776"/>
            <a:ext cx="155448" cy="1554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73405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synthetic Lumina demo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291840"/>
            <a:ext cx="155448" cy="1554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246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config/thresholds.yaml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155448" cy="1554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75818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GL tie-out for all 9 accounts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1444752"/>
            <a:ext cx="2606040" cy="3090672"/>
          </a:xfrm>
          <a:prstGeom prst="rect">
            <a:avLst/>
          </a:prstGeom>
          <a:solidFill>
            <a:srgbClr val="1A2F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444752"/>
            <a:ext cx="26060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73552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 &amp; Package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38144" y="2267712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2221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Exception Management 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38144" y="2779776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73405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 Package agent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38144" y="3291840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3246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approval_router &amp; HITL gates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38144" y="3803904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375818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BD1–BD5 close cycle dry run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9904" y="1444752"/>
            <a:ext cx="2606040" cy="3090672"/>
          </a:xfrm>
          <a:prstGeom prst="rect">
            <a:avLst/>
          </a:prstGeom>
          <a:solidFill>
            <a:srgbClr val="1A2F4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9904" y="1444752"/>
            <a:ext cx="260604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1344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9904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Ready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54496" y="2267712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83096" y="2221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integrity verification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54496" y="2779776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273405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control evidence review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54496" y="3291840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3096" y="3246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&amp; CFO sign-off workflow 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54496" y="3803904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3096" y="375818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2026 close — live run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27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github.com/t4hdqm4ckx-cell/bs-recon-agent   ·   Ready to automate your month-end close?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Balance Sheet Reconciliation Agent</dc:title>
  <dc:subject>PptxGenJS Presentation</dc:subject>
  <dc:creator>BS Recon Agent</dc:creator>
  <cp:lastModifiedBy>BS Recon Agent</cp:lastModifiedBy>
  <cp:revision>1</cp:revision>
  <dcterms:created xsi:type="dcterms:W3CDTF">2026-05-30T17:24:09Z</dcterms:created>
  <dcterms:modified xsi:type="dcterms:W3CDTF">2026-05-30T17:24:09Z</dcterms:modified>
</cp:coreProperties>
</file>